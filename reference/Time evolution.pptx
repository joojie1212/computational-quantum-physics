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</p:sldIdLst>
  <p:sldSz cx="13004800" cy="9753600"/>
  <p:notesSz cx="6858000" cy="9144000"/>
  <p:embeddedFontLst>
    <p:embeddedFont>
      <p:font typeface="Cambria Math" panose="02040503050406030204" pitchFamily="18" charset="0"/>
      <p:regular r:id="rId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ctr" defTabSz="17335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245">
              <a:lnSpc>
                <a:spcPct val="100000"/>
              </a:lnSpc>
              <a:spcBef>
                <a:spcPts val="0"/>
              </a:spcBef>
              <a:buSzTx/>
              <a:buNone/>
              <a:defRPr sz="2305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245">
              <a:lnSpc>
                <a:spcPct val="100000"/>
              </a:lnSpc>
              <a:spcBef>
                <a:spcPts val="0"/>
              </a:spcBef>
              <a:buSzTx/>
              <a:buNone/>
              <a:defRPr sz="2305" b="1"/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6740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245">
              <a:lnSpc>
                <a:spcPct val="100000"/>
              </a:lnSpc>
              <a:spcBef>
                <a:spcPts val="0"/>
              </a:spcBef>
              <a:buSzTx/>
              <a:buNone/>
              <a:defRPr sz="2305" b="1"/>
            </a:lvl1pPr>
          </a:lstStyle>
          <a:p>
            <a:r>
              <a:t>Attribution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l" defTabSz="173355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titleStyle>
    <p:bodyStyle>
      <a:lvl1pPr marL="381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762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1143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1524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1905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2286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2667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3048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3429000" marR="0" indent="-381000" algn="l" defTabSz="173355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GIF"/><Relationship Id="rId7" Type="http://schemas.openxmlformats.org/officeDocument/2006/relationships/image" Target="../media/image7.GIF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3" Type="http://schemas.openxmlformats.org/officeDocument/2006/relationships/slideLayout" Target="../slideLayouts/slideLayout15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al time evolution example"/>
          <p:cNvSpPr txBox="1"/>
          <p:nvPr>
            <p:ph type="title" idx="4294967295"/>
          </p:nvPr>
        </p:nvSpPr>
        <p:spPr>
          <a:xfrm>
            <a:off x="952500" y="254000"/>
            <a:ext cx="11099800" cy="1075964"/>
          </a:xfrm>
          <a:prstGeom prst="rect">
            <a:avLst/>
          </a:prstGeom>
        </p:spPr>
        <p:txBody>
          <a:bodyPr anchor="ctr"/>
          <a:lstStyle>
            <a:lvl1pPr algn="ctr" defTabSz="584200">
              <a:lnSpc>
                <a:spcPct val="100000"/>
              </a:lnSpc>
              <a:defRPr sz="5000" spc="0">
                <a:solidFill>
                  <a:srgbClr val="011993"/>
                </a:solidFill>
              </a:defRPr>
            </a:lvl1pPr>
          </a:lstStyle>
          <a:p>
            <a:r>
              <a:t>Real time evolution example</a:t>
            </a:r>
          </a:p>
        </p:txBody>
      </p:sp>
      <p:pic>
        <p:nvPicPr>
          <p:cNvPr id="152" name="Ring2.gif" descr="Ring2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9084265" y="2900833"/>
            <a:ext cx="3653458" cy="35621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53" name="Chain2.gif" descr="Chain2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4995646" y="3504668"/>
            <a:ext cx="3800908" cy="23544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58" name="Group"/>
          <p:cNvGrpSpPr/>
          <p:nvPr/>
        </p:nvGrpSpPr>
        <p:grpSpPr>
          <a:xfrm>
            <a:off x="1240652" y="3516482"/>
            <a:ext cx="3467283" cy="2342637"/>
            <a:chOff x="0" y="0"/>
            <a:chExt cx="3467281" cy="2342636"/>
          </a:xfrm>
        </p:grpSpPr>
        <p:pic>
          <p:nvPicPr>
            <p:cNvPr id="154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5960"/>
              <a:ext cx="3243108" cy="1990908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Equation"/>
                <p:cNvSpPr txBox="1"/>
                <p:nvPr/>
              </p:nvSpPr>
              <p:spPr>
                <a:xfrm>
                  <a:off x="3353489" y="1221850"/>
                  <a:ext cx="113793" cy="1765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sz="2000"/>
                </a:p>
              </p:txBody>
            </p:sp>
          </mc:Choice>
          <mc:Fallback>
            <p:sp>
              <p:nvSpPr>
                <p:cNvPr id="15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3489" y="1221850"/>
                  <a:ext cx="113793" cy="176531"/>
                </a:xfrm>
                <a:prstGeom prst="rect">
                  <a:avLst/>
                </a:prstGeom>
                <a:blipFill rotWithShape="1">
                  <a:blip r:embed="rId4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Equation"/>
                <p:cNvSpPr txBox="1"/>
                <p:nvPr/>
              </p:nvSpPr>
              <p:spPr>
                <a:xfrm>
                  <a:off x="1504942" y="0"/>
                  <a:ext cx="229842" cy="2315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/>
                            </m:ctrlPr>
                          </m:sSubPr>
                          <m:e>
                            <m: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sz="2000"/>
                </a:p>
              </p:txBody>
            </p:sp>
          </mc:Choice>
          <mc:Fallback>
            <p:sp>
              <p:nvSpPr>
                <p:cNvPr id="15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4942" y="0"/>
                  <a:ext cx="229842" cy="231527"/>
                </a:xfrm>
                <a:prstGeom prst="rect">
                  <a:avLst/>
                </a:prstGeom>
                <a:blipFill rotWithShape="1">
                  <a:blip r:embed="rId5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  <p:sp>
          <p:nvSpPr>
            <p:cNvPr id="157" name="Circle"/>
            <p:cNvSpPr/>
            <p:nvPr/>
          </p:nvSpPr>
          <p:spPr>
            <a:xfrm>
              <a:off x="1476740" y="2020465"/>
              <a:ext cx="322172" cy="322172"/>
            </a:xfrm>
            <a:prstGeom prst="ellipse">
              <a:avLst/>
            </a:prstGeom>
            <a:noFill/>
            <a:ln w="25400" cap="flat">
              <a:solidFill>
                <a:schemeClr val="accent5">
                  <a:hueOff val="-82419"/>
                  <a:satOff val="-9511"/>
                  <a:lumOff val="-16341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2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</a:p>
          </p:txBody>
        </p:sp>
      </p:grpSp>
      <p:grpSp>
        <p:nvGrpSpPr>
          <p:cNvPr id="161" name="Group"/>
          <p:cNvGrpSpPr/>
          <p:nvPr/>
        </p:nvGrpSpPr>
        <p:grpSpPr>
          <a:xfrm>
            <a:off x="952500" y="2781300"/>
            <a:ext cx="11099800" cy="575796"/>
            <a:chOff x="0" y="0"/>
            <a:chExt cx="11099800" cy="575795"/>
          </a:xfrm>
        </p:grpSpPr>
        <p:sp>
          <p:nvSpPr>
            <p:cNvPr id="159" name="Gaussian wave packet with momentum"/>
            <p:cNvSpPr txBox="1"/>
            <p:nvPr/>
          </p:nvSpPr>
          <p:spPr>
            <a:xfrm>
              <a:off x="0" y="0"/>
              <a:ext cx="11099800" cy="5757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rmAutofit/>
            </a:bodyPr>
            <a:lstStyle>
              <a:lvl1pPr marL="444500" indent="-444500" algn="l" defTabSz="584200">
                <a:spcBef>
                  <a:spcPts val="4200"/>
                </a:spcBef>
                <a:buSzPct val="145000"/>
                <a:buChar char="•"/>
                <a:defRPr sz="2800">
                  <a:solidFill>
                    <a:srgbClr val="000000"/>
                  </a:solidFill>
                  <a:latin typeface="Times New Roman" panose="02020703060505090304"/>
                  <a:ea typeface="Times New Roman" panose="02020703060505090304"/>
                  <a:cs typeface="Times New Roman" panose="02020703060505090304"/>
                  <a:sym typeface="Times New Roman" panose="02020703060505090304"/>
                </a:defRPr>
              </a:lvl1pPr>
            </a:lstStyle>
            <a:p>
              <a:r>
                <a:t>Gaussian wave packet with momentum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Equation"/>
                <p:cNvSpPr txBox="1"/>
                <p:nvPr/>
              </p:nvSpPr>
              <p:spPr>
                <a:xfrm>
                  <a:off x="6308885" y="168212"/>
                  <a:ext cx="763197" cy="2876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/>
                            </m:ctrlPr>
                          </m:sSubPr>
                          <m:e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sz="2400"/>
                </a:p>
              </p:txBody>
            </p:sp>
          </mc:Choice>
          <mc:Fallback>
            <p:sp>
              <p:nvSpPr>
                <p:cNvPr id="16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8885" y="168212"/>
                  <a:ext cx="763197" cy="287626"/>
                </a:xfrm>
                <a:prstGeom prst="rect">
                  <a:avLst/>
                </a:prstGeom>
                <a:blipFill rotWithShape="1">
                  <a:blip r:embed="rId6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  <p:pic>
        <p:nvPicPr>
          <p:cNvPr id="165" name="Chain1.gif" descr="Chain1.gif"/>
          <p:cNvPicPr/>
          <p:nvPr/>
        </p:nvPicPr>
        <p:blipFill>
          <a:blip r:embed="rId7"/>
          <a:stretch>
            <a:fillRect/>
          </a:stretch>
        </p:blipFill>
        <p:spPr>
          <a:xfrm>
            <a:off x="4610100" y="6356491"/>
            <a:ext cx="4572000" cy="2832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6" name="Ring1.gif" descr="Ring1.gif"/>
          <p:cNvPicPr/>
          <p:nvPr/>
        </p:nvPicPr>
        <p:blipFill>
          <a:blip r:embed="rId8"/>
          <a:stretch>
            <a:fillRect/>
          </a:stretch>
        </p:blipFill>
        <p:spPr>
          <a:xfrm>
            <a:off x="9084265" y="6379339"/>
            <a:ext cx="3653458" cy="35621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71" name="Group"/>
          <p:cNvGrpSpPr/>
          <p:nvPr/>
        </p:nvGrpSpPr>
        <p:grpSpPr>
          <a:xfrm>
            <a:off x="1194336" y="6989081"/>
            <a:ext cx="3559914" cy="2342638"/>
            <a:chOff x="0" y="0"/>
            <a:chExt cx="3559913" cy="2342636"/>
          </a:xfrm>
        </p:grpSpPr>
        <p:pic>
          <p:nvPicPr>
            <p:cNvPr id="167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00112"/>
              <a:ext cx="3327189" cy="204252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8" name="Equation"/>
                <p:cNvSpPr txBox="1"/>
                <p:nvPr/>
              </p:nvSpPr>
              <p:spPr>
                <a:xfrm>
                  <a:off x="1543959" y="0"/>
                  <a:ext cx="241334" cy="24310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/>
                            </m:ctrlPr>
                          </m:sSubPr>
                          <m:e>
                            <m:r>
                              <a:rPr sz="2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sz="2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sz="2100"/>
                </a:p>
              </p:txBody>
            </p:sp>
          </mc:Choice>
          <mc:Fallback>
            <p:sp>
              <p:nvSpPr>
                <p:cNvPr id="16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959" y="0"/>
                  <a:ext cx="241334" cy="243103"/>
                </a:xfrm>
                <a:prstGeom prst="rect">
                  <a:avLst/>
                </a:prstGeom>
                <a:blipFill rotWithShape="1">
                  <a:blip r:embed="rId9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9" name="Equation"/>
                <p:cNvSpPr txBox="1"/>
                <p:nvPr/>
              </p:nvSpPr>
              <p:spPr>
                <a:xfrm>
                  <a:off x="3440431" y="1229488"/>
                  <a:ext cx="119483" cy="18535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sz="2100"/>
                </a:p>
              </p:txBody>
            </p:sp>
          </mc:Choice>
          <mc:Fallback>
            <p:sp>
              <p:nvSpPr>
                <p:cNvPr id="16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431" y="1229488"/>
                  <a:ext cx="119483" cy="185358"/>
                </a:xfrm>
                <a:prstGeom prst="rect">
                  <a:avLst/>
                </a:prstGeom>
                <a:blipFill rotWithShape="1">
                  <a:blip r:embed="rId10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  <p:sp>
          <p:nvSpPr>
            <p:cNvPr id="170" name="Circle"/>
            <p:cNvSpPr/>
            <p:nvPr/>
          </p:nvSpPr>
          <p:spPr>
            <a:xfrm>
              <a:off x="2298606" y="1146868"/>
              <a:ext cx="330525" cy="330525"/>
            </a:xfrm>
            <a:prstGeom prst="ellipse">
              <a:avLst/>
            </a:prstGeom>
            <a:noFill/>
            <a:ln w="25400" cap="flat">
              <a:solidFill>
                <a:schemeClr val="accent5">
                  <a:hueOff val="-82419"/>
                  <a:satOff val="-9511"/>
                  <a:lumOff val="-16341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2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</a:p>
          </p:txBody>
        </p:sp>
      </p:grpSp>
      <p:grpSp>
        <p:nvGrpSpPr>
          <p:cNvPr id="174" name="Group"/>
          <p:cNvGrpSpPr/>
          <p:nvPr/>
        </p:nvGrpSpPr>
        <p:grpSpPr>
          <a:xfrm>
            <a:off x="1024748" y="6260253"/>
            <a:ext cx="11099801" cy="575796"/>
            <a:chOff x="0" y="0"/>
            <a:chExt cx="11099800" cy="575795"/>
          </a:xfrm>
        </p:grpSpPr>
        <p:sp>
          <p:nvSpPr>
            <p:cNvPr id="172" name="Gaussian wave packet with momentum"/>
            <p:cNvSpPr txBox="1"/>
            <p:nvPr/>
          </p:nvSpPr>
          <p:spPr>
            <a:xfrm>
              <a:off x="0" y="0"/>
              <a:ext cx="11099800" cy="5757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rmAutofit/>
            </a:bodyPr>
            <a:lstStyle>
              <a:lvl1pPr marL="444500" indent="-444500" algn="l" defTabSz="584200">
                <a:spcBef>
                  <a:spcPts val="4200"/>
                </a:spcBef>
                <a:buSzPct val="145000"/>
                <a:buChar char="•"/>
                <a:defRPr sz="2800">
                  <a:solidFill>
                    <a:srgbClr val="000000"/>
                  </a:solidFill>
                  <a:latin typeface="Times New Roman" panose="02020703060505090304"/>
                  <a:ea typeface="Times New Roman" panose="02020703060505090304"/>
                  <a:cs typeface="Times New Roman" panose="02020703060505090304"/>
                  <a:sym typeface="Times New Roman" panose="02020703060505090304"/>
                </a:defRPr>
              </a:lvl1pPr>
            </a:lstStyle>
            <a:p>
              <a:r>
                <a:t>Gaussian wave packet with momentum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Equation"/>
                <p:cNvSpPr txBox="1"/>
                <p:nvPr/>
              </p:nvSpPr>
              <p:spPr>
                <a:xfrm>
                  <a:off x="6308885" y="155512"/>
                  <a:ext cx="1041564" cy="2876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/>
                            </m:ctrlPr>
                          </m:sSubPr>
                          <m:e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sz="2400"/>
                </a:p>
              </p:txBody>
            </p:sp>
          </mc:Choice>
          <mc:Fallback>
            <p:sp>
              <p:nvSpPr>
                <p:cNvPr id="17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8885" y="155512"/>
                  <a:ext cx="1041564" cy="287626"/>
                </a:xfrm>
                <a:prstGeom prst="rect">
                  <a:avLst/>
                </a:prstGeom>
                <a:blipFill rotWithShape="1">
                  <a:blip r:embed="rId11"/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750" y="1528445"/>
            <a:ext cx="10909935" cy="838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7335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7335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Writer</Application>
  <PresentationFormat/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Helvetica Neue</vt:lpstr>
      <vt:lpstr>Helvetica Neue Medium</vt:lpstr>
      <vt:lpstr>Cambria Math</vt:lpstr>
      <vt:lpstr>Times New Roman</vt:lpstr>
      <vt:lpstr>微软雅黑</vt:lpstr>
      <vt:lpstr>汉仪旗黑</vt:lpstr>
      <vt:lpstr>Arial Unicode MS</vt:lpstr>
      <vt:lpstr>21_BasicWhite</vt:lpstr>
      <vt:lpstr>Real time evolution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evolution example</dc:title>
  <dc:creator/>
  <cp:lastModifiedBy>syang</cp:lastModifiedBy>
  <cp:revision>2</cp:revision>
  <dcterms:created xsi:type="dcterms:W3CDTF">2021-09-27T13:34:18Z</dcterms:created>
  <dcterms:modified xsi:type="dcterms:W3CDTF">2021-09-27T13:34:18Z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1033-3.9.0.6159</vt:lpwstr>
  </property>
</Properties>
</file>