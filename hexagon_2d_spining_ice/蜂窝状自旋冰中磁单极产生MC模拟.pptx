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9" r:id="rId4"/>
    <p:sldId id="261" r:id="rId5"/>
    <p:sldId id="260" r:id="rId6"/>
    <p:sldId id="263" r:id="rId7"/>
    <p:sldId id="258" r:id="rId8"/>
    <p:sldId id="262" r:id="rId9"/>
    <p:sldId id="264" r:id="rId10"/>
    <p:sldId id="266" r:id="rId11"/>
    <p:sldId id="267" r:id="rId12"/>
    <p:sldId id="268" r:id="rId13"/>
    <p:sldId id="265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9" d="100"/>
          <a:sy n="89" d="100"/>
        </p:scale>
        <p:origin x="24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030271-CB58-4C70-90D4-E1A731D55032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0FAF92-3658-443A-8E2D-384156A02C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6808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0FAF92-3658-443A-8E2D-384156A02CE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849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C4BC13-18B2-C23A-2354-11F7C059AD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67EAEF-536C-B577-8C8D-534EE0E08F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C48C48-60BB-0C7B-807B-FC4FC545B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E2D8-5B91-47A2-B5CF-E2F8A4A6045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D27854-35BD-8361-E29B-BE10D0CC9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ED40594-0999-EEC0-8C70-B8640FB72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C77C-DA7E-4E66-B30E-6E8B99FA8D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198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6B76D0-2F33-46BA-EBD3-3194C4779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2892E6-34D0-E7FC-49A7-2B2F90BE3D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E822F5A-0C9F-041F-BAE3-A9BEC88B5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E2D8-5B91-47A2-B5CF-E2F8A4A6045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C69254-8584-E594-C9C3-E6B89268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C6E22A-9B60-D39E-132B-46F32DF3A0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C77C-DA7E-4E66-B30E-6E8B99FA8D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2658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C8FD13-5233-12F3-AAE9-8B314EFA8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17AD790-5619-DE05-3F81-450CB9BF2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1ACE5DE-C8B0-A940-9C07-CD22C926E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E2D8-5B91-47A2-B5CF-E2F8A4A6045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808908-E5F1-6437-7077-54ECF5AFB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2AA543-D59A-CA99-FC33-B615F94DE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C77C-DA7E-4E66-B30E-6E8B99FA8D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5411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D5608-5648-866D-C609-349793BC7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072653-3289-61B9-B36B-A1AB7F3EF4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ECD9DB0-5EAD-2662-3CF6-555D53147E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6C3B39-0442-2E49-E39B-FE5ECD6A4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E2D8-5B91-47A2-B5CF-E2F8A4A6045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2986635-19D8-B0D8-3002-D7744B85F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012965-DA72-D48E-A863-157657831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C77C-DA7E-4E66-B30E-6E8B99FA8D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3131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01463F-4725-BCF9-8D75-EBEF93469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DE0D23-0B41-780F-408E-D62D49AF8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E594455-3A06-C19F-5197-EF540C136D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437E6D2-03D1-002E-F2FF-CCD48F139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178A5B1-8CC2-7B75-F253-E7A2EC52F2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6615306-CBCC-40CD-6422-240AC150F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E2D8-5B91-47A2-B5CF-E2F8A4A6045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29D479-16F7-890A-5F74-18FA4CB76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40311E4-F36B-FE08-7F4F-0033445AF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C77C-DA7E-4E66-B30E-6E8B99FA8D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09512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811BA6-F24F-FF6D-B312-14EAA9C32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E623BD8-5987-FCC3-B797-E5EAB5329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E2D8-5B91-47A2-B5CF-E2F8A4A6045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23229C-BF92-EF45-3245-2A5C520653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37BB01F-31BB-0C28-E04B-93754245F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C77C-DA7E-4E66-B30E-6E8B99FA8D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852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F03DF68-4EC8-4D58-393C-0D276C5BC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E2D8-5B91-47A2-B5CF-E2F8A4A6045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86D4820-7872-262F-3EC0-5ACDE8A5B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DD36310-1430-8A1B-6750-FDC43A8BA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C77C-DA7E-4E66-B30E-6E8B99FA8D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1207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C842D9-11B0-6CA8-923E-310313584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02900D-5005-35DD-77C3-E3ED3C15F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15BE33-8839-8D2D-44F1-BBDF34E82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D8DABE-0B66-2A9B-8612-7CAFD900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E2D8-5B91-47A2-B5CF-E2F8A4A6045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1E16CE-AFD0-BD6C-98AD-367378216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98DD8D-9F0C-600C-D6CF-6C347ADF1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C77C-DA7E-4E66-B30E-6E8B99FA8D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3769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6EDF66-5BF2-FBB8-5D0A-6405795A1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D09BB3B-E4BD-E529-25E1-9FB129ACF9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DAAA0D-51E4-29AE-4C9C-8466E4CED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09FFA50-F968-1869-71BA-712BEF086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E2D8-5B91-47A2-B5CF-E2F8A4A6045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ACAF60-B05E-1128-B0B2-9FBEBD09C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9E4B95-570B-59C8-123D-B529CAA3F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C77C-DA7E-4E66-B30E-6E8B99FA8D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130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71C1B2-5E89-19F1-B74C-65173EE90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62FD882-3378-2B47-464B-00734353CE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3450E0-918C-F3D1-3DA1-A28A39840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E2D8-5B91-47A2-B5CF-E2F8A4A6045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871E15-8A02-6C1A-2902-BFDB7FE0F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FBE9AC-CCDE-6E1B-E6F1-1CD76BC74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C77C-DA7E-4E66-B30E-6E8B99FA8D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1082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48821C8-9EDC-35B0-3EA4-00C8116EB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B4B26B2-E256-C736-0B7A-E3839C2F2D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CA5213-6AC1-0096-0C14-5A6157A9B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37E2D8-5B91-47A2-B5CF-E2F8A4A6045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7843FD-B73A-C5FC-9C50-9340D2BAF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B332E7-FD3C-52E8-57A2-049F39DFB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D4C77C-DA7E-4E66-B30E-6E8B99FA8D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1394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9CC640-71F0-503B-C441-5104D892D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E7083C-4693-443E-EB9D-3246E20BA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49C2C2-0BC7-A2B2-A26E-FB3527533C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37E2D8-5B91-47A2-B5CF-E2F8A4A6045B}" type="datetimeFigureOut">
              <a:rPr lang="zh-CN" altLang="en-US" smtClean="0"/>
              <a:t>2025/12/29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3BAAC6-B7DE-EA0C-87E1-2A1EF8F294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4A7DF0-68FD-1DE3-0F68-C4094BE230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D4C77C-DA7E-4E66-B30E-6E8B99FA8D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649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4.wdp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A950B8-0DDE-C521-D1CB-DA585523DD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sz="5300" dirty="0"/>
              <a:t>基于经典蒙特卡洛算法</a:t>
            </a:r>
            <a:br>
              <a:rPr lang="en-US" altLang="zh-CN" dirty="0"/>
            </a:br>
            <a:r>
              <a:rPr lang="zh-CN" altLang="en-US" dirty="0"/>
              <a:t>二维蜂窝形自旋冰</a:t>
            </a:r>
            <a:br>
              <a:rPr lang="en-US" altLang="zh-CN" dirty="0"/>
            </a:br>
            <a:r>
              <a:rPr lang="zh-CN" altLang="en-US" dirty="0"/>
              <a:t>磁单极子热激发数值模拟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BEFF642-8A05-98FB-341A-7D07F5389F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/>
          <a:lstStyle/>
          <a:p>
            <a:r>
              <a:rPr lang="zh-CN" altLang="en-US" dirty="0"/>
              <a:t>物理</a:t>
            </a:r>
            <a:r>
              <a:rPr lang="en-US" altLang="zh-CN" dirty="0"/>
              <a:t>21 </a:t>
            </a:r>
            <a:r>
              <a:rPr lang="zh-CN" altLang="en-US" dirty="0"/>
              <a:t>朱捷</a:t>
            </a:r>
          </a:p>
        </p:txBody>
      </p:sp>
    </p:spTree>
    <p:extLst>
      <p:ext uri="{BB962C8B-B14F-4D97-AF65-F5344CB8AC3E}">
        <p14:creationId xmlns:p14="http://schemas.microsoft.com/office/powerpoint/2010/main" val="925202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97C16B-7597-8A11-93BA-81F543F4E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物理背景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A47D1BC-58CB-8ECB-988D-114925797C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磁单极子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82A5C7-DBB0-C9D0-98CD-3E1D9D024E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6144" y="1291771"/>
            <a:ext cx="2295238" cy="49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8740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FFA02-99E4-76E8-FFA8-BEB321639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物理背景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4D3502-FFBC-255F-55B5-941FC05E9A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自旋冰 </a:t>
            </a:r>
            <a:r>
              <a:rPr lang="en-US" altLang="zh-CN" dirty="0"/>
              <a:t>spinning ice:</a:t>
            </a:r>
            <a:r>
              <a:rPr lang="zh-CN" altLang="en-US" dirty="0"/>
              <a:t> </a:t>
            </a:r>
            <a:endParaRPr lang="en-US" altLang="zh-CN" dirty="0"/>
          </a:p>
          <a:p>
            <a:r>
              <a:rPr lang="en-US" altLang="zh-CN" dirty="0"/>
              <a:t>a peculiar thermal state of a frustrated ferromagnet on the pyrochlore lattice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F615340-9485-9699-5909-9183FD2571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1467" y="3017486"/>
            <a:ext cx="7561905" cy="3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922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FFE5AB-D8AC-4C67-1B5B-062384EE2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物理背景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20B63B1E-1062-F665-1464-D24409C4DC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4034" y="1965447"/>
            <a:ext cx="5830506" cy="3193780"/>
          </a:xfr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77FBEC5-C41D-0135-B1B2-17EA667919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5995" y="1620219"/>
            <a:ext cx="4016783" cy="361756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5E9D03D-E6C1-5763-E4AA-3BC75A3F3082}"/>
              </a:ext>
            </a:extLst>
          </p:cNvPr>
          <p:cNvSpPr txBox="1"/>
          <p:nvPr/>
        </p:nvSpPr>
        <p:spPr>
          <a:xfrm>
            <a:off x="2079516" y="5741772"/>
            <a:ext cx="80329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蜂窝形自旋冰的阻挫效应更强，更容易观察在短程上由熵主导的磁荷排斥效应</a:t>
            </a:r>
          </a:p>
        </p:txBody>
      </p:sp>
    </p:spTree>
    <p:extLst>
      <p:ext uri="{BB962C8B-B14F-4D97-AF65-F5344CB8AC3E}">
        <p14:creationId xmlns:p14="http://schemas.microsoft.com/office/powerpoint/2010/main" val="9900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676926-3100-A7D9-EEC8-D61E0F95C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物理背景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21ABEEF-8FD5-08E0-4B38-59803A16C2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0526" y="4228405"/>
            <a:ext cx="5630948" cy="1106079"/>
          </a:xfrm>
          <a:prstGeom prst="rect">
            <a:avLst/>
          </a:prstGeom>
        </p:spPr>
      </p:pic>
      <p:sp>
        <p:nvSpPr>
          <p:cNvPr id="9" name="内容占位符 8">
            <a:extLst>
              <a:ext uri="{FF2B5EF4-FFF2-40B4-BE49-F238E27FC236}">
                <a16:creationId xmlns:a16="http://schemas.microsoft.com/office/drawing/2014/main" id="{68EA567C-1522-42A6-4D27-CAA54C0AF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磁矩间哈密顿量</a:t>
            </a: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等效磁荷势</a:t>
            </a:r>
          </a:p>
        </p:txBody>
      </p:sp>
      <p:pic>
        <p:nvPicPr>
          <p:cNvPr id="10" name="内容占位符 4">
            <a:extLst>
              <a:ext uri="{FF2B5EF4-FFF2-40B4-BE49-F238E27FC236}">
                <a16:creationId xmlns:a16="http://schemas.microsoft.com/office/drawing/2014/main" id="{61D54C2D-3FB8-4558-DFC9-B370F99909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9364" y="1825625"/>
            <a:ext cx="5657143" cy="1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09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160762-97CD-FEF6-5D40-FD5FA8055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物理背景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08DD30D-6F57-59A7-DCBC-247F3DA267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zh-CN" altLang="en-US" dirty="0"/>
                  <a:t>磁偶极子关联函数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±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∓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=&lt;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)&gt;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(</a:t>
                </a:r>
                <a:r>
                  <a:rPr lang="zh-CN" altLang="en-US" dirty="0"/>
                  <a:t>在蒙特卡洛方法中直接可测量</a:t>
                </a:r>
                <a:r>
                  <a:rPr lang="en-US" altLang="zh-CN" dirty="0"/>
                  <a:t>)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如果磁偶极分布满足玻尔兹曼分布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±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pt-BR" altLang="zh-CN" i="1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pt-BR" altLang="zh-C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altLang="zh-C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pt-BR" altLang="zh-CN" i="1">
                          <a:latin typeface="Cambria Math" panose="02040503050406030204" pitchFamily="18" charset="0"/>
                        </a:rPr>
                        <m:t>∼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t-BR" altLang="zh-CN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t-BR" altLang="zh-CN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)/</m:t>
                          </m:r>
                          <m:r>
                            <a:rPr lang="pt-BR" altLang="zh-CN" i="1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m:rPr>
                              <m:nor/>
                            </m:rPr>
                            <a:rPr lang="en-US" altLang="zh-CN" dirty="0"/>
                            <m:t> </m:t>
                          </m:r>
                        </m:sup>
                      </m:sSup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即两体势能可以写作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pt-BR" altLang="zh-CN" i="1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𝑇𝑙𝑛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±</m:t>
                          </m:r>
                        </m:sub>
                      </m:sSub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08DD30D-6F57-59A7-DCBC-247F3DA267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4" t="-26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4663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EECC14-48C0-472D-CADE-778DA0AB2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模拟方法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2C65F9-41C4-613F-D71C-8AF64AF6B0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63499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zh-CN" altLang="en-US" dirty="0"/>
                  <a:t>经典蒙特卡洛</a:t>
                </a:r>
                <a:endParaRPr lang="en-US" altLang="zh-CN" dirty="0"/>
              </a:p>
              <a:p>
                <a:r>
                  <a:rPr lang="zh-CN" altLang="en-US" dirty="0"/>
                  <a:t>高温退火测量</a:t>
                </a:r>
                <a:endParaRPr lang="en-US" altLang="zh-CN" dirty="0"/>
              </a:p>
              <a:p>
                <a:r>
                  <a:rPr lang="zh-CN" altLang="en-US" dirty="0"/>
                  <a:t>晶格可视化</a:t>
                </a:r>
                <a:endParaRPr lang="en-US" altLang="zh-CN" dirty="0"/>
              </a:p>
              <a:p>
                <a:r>
                  <a:rPr lang="zh-CN" altLang="en-US" dirty="0"/>
                  <a:t>有效哈密顿量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𝐽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·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EM interaction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J=1,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A=0.4,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B=1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exchange interaction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J=1,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A=0.4,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B=0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only monopole self-energy</a:t>
                </a:r>
                <a:r>
                  <a:rPr lang="zh-CN" altLang="en-US" dirty="0"/>
                  <a:t>：</a:t>
                </a:r>
                <a:r>
                  <a:rPr lang="en-US" altLang="zh-CN" dirty="0"/>
                  <a:t>J=1,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A=0</a:t>
                </a:r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02C65F9-41C4-613F-D71C-8AF64AF6B0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63499"/>
              </a:xfrm>
              <a:blipFill>
                <a:blip r:embed="rId2"/>
                <a:stretch>
                  <a:fillRect l="-1043" t="-31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B92988F2-6180-A781-07DC-C54D555AF8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0530" y="858997"/>
            <a:ext cx="3205513" cy="2886923"/>
          </a:xfrm>
          <a:prstGeom prst="rect">
            <a:avLst/>
          </a:prstGeom>
        </p:spPr>
      </p:pic>
      <p:sp>
        <p:nvSpPr>
          <p:cNvPr id="7" name="箭头: 右 6">
            <a:extLst>
              <a:ext uri="{FF2B5EF4-FFF2-40B4-BE49-F238E27FC236}">
                <a16:creationId xmlns:a16="http://schemas.microsoft.com/office/drawing/2014/main" id="{80CF2EB7-F638-63C0-6E26-67A1C7884B8C}"/>
              </a:ext>
            </a:extLst>
          </p:cNvPr>
          <p:cNvSpPr/>
          <p:nvPr/>
        </p:nvSpPr>
        <p:spPr>
          <a:xfrm rot="1719906">
            <a:off x="7618151" y="1180703"/>
            <a:ext cx="632852" cy="3815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2304F724-3B1E-339C-ECC6-B947211DCC7B}"/>
              </a:ext>
            </a:extLst>
          </p:cNvPr>
          <p:cNvSpPr/>
          <p:nvPr/>
        </p:nvSpPr>
        <p:spPr>
          <a:xfrm rot="9091148">
            <a:off x="8784144" y="1167976"/>
            <a:ext cx="632852" cy="3815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FF98F468-0015-8850-2FF8-DE81B0DAE558}"/>
              </a:ext>
            </a:extLst>
          </p:cNvPr>
          <p:cNvSpPr/>
          <p:nvPr/>
        </p:nvSpPr>
        <p:spPr>
          <a:xfrm rot="5400000">
            <a:off x="10043828" y="1183471"/>
            <a:ext cx="632852" cy="3815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D9013855-22BB-365B-7ED3-81F56B2DB6A5}"/>
              </a:ext>
            </a:extLst>
          </p:cNvPr>
          <p:cNvSpPr/>
          <p:nvPr/>
        </p:nvSpPr>
        <p:spPr>
          <a:xfrm rot="5400000">
            <a:off x="8178107" y="2310195"/>
            <a:ext cx="632852" cy="3815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B5CBB2CD-073D-16D1-50F5-8271E0E6EBDC}"/>
              </a:ext>
            </a:extLst>
          </p:cNvPr>
          <p:cNvSpPr/>
          <p:nvPr/>
        </p:nvSpPr>
        <p:spPr>
          <a:xfrm rot="12714846">
            <a:off x="9344258" y="2226158"/>
            <a:ext cx="632852" cy="38158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0907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>
            <a:extLst>
              <a:ext uri="{FF2B5EF4-FFF2-40B4-BE49-F238E27FC236}">
                <a16:creationId xmlns:a16="http://schemas.microsoft.com/office/drawing/2014/main" id="{E7742BCC-1B4E-3E0F-2DA6-0E6C19674E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432" y="1315207"/>
            <a:ext cx="5233427" cy="4227585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F030ED4D-A414-0A6D-EA0E-0A10B3D932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589" y="1315207"/>
            <a:ext cx="5233427" cy="422758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8184DFE-4534-0705-C7B3-91EE0FE8FC89}"/>
                  </a:ext>
                </a:extLst>
              </p:cNvPr>
              <p:cNvSpPr txBox="1"/>
              <p:nvPr/>
            </p:nvSpPr>
            <p:spPr>
              <a:xfrm>
                <a:off x="3476367" y="372864"/>
                <a:ext cx="6096000" cy="14599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𝐽</m:t>
                      </m:r>
                      <m:nary>
                        <m:naryPr>
                          <m:chr m:val="∑"/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b>
                            <m:sup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 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𝐴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r>
                            <m:rPr>
                              <m:brk m:alnAt="23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j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</m:sub>
                        <m:sup/>
                        <m:e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  <m:t>r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·</m:t>
                          </m:r>
                          <m:sSub>
                            <m:sSubPr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</m:e>
                            <m:sub>
                              <m:r>
                                <a:rPr lang="en-US" altLang="zh-CN" i="1"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))</m:t>
                          </m:r>
                        </m:e>
                      </m:nary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18184DFE-4534-0705-C7B3-91EE0FE8F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6367" y="372864"/>
                <a:ext cx="6096000" cy="145995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文本框 25">
            <a:extLst>
              <a:ext uri="{FF2B5EF4-FFF2-40B4-BE49-F238E27FC236}">
                <a16:creationId xmlns:a16="http://schemas.microsoft.com/office/drawing/2014/main" id="{9FB3AC4B-9062-3402-9361-6AA3946A4FB2}"/>
              </a:ext>
            </a:extLst>
          </p:cNvPr>
          <p:cNvSpPr txBox="1"/>
          <p:nvPr/>
        </p:nvSpPr>
        <p:spPr>
          <a:xfrm>
            <a:off x="4481384" y="556180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altLang="zh-CN" dirty="0"/>
              <a:t>EM interaction</a:t>
            </a:r>
            <a:r>
              <a:rPr lang="zh-CN" altLang="en-US" dirty="0"/>
              <a:t>：</a:t>
            </a:r>
            <a:r>
              <a:rPr lang="en-US" altLang="zh-CN" dirty="0"/>
              <a:t>J=1,</a:t>
            </a:r>
            <a:r>
              <a:rPr lang="zh-CN" altLang="en-US" dirty="0"/>
              <a:t> </a:t>
            </a:r>
            <a:r>
              <a:rPr lang="en-US" altLang="zh-CN" dirty="0"/>
              <a:t>A=0.4,</a:t>
            </a:r>
            <a:r>
              <a:rPr lang="zh-CN" altLang="en-US" dirty="0"/>
              <a:t> </a:t>
            </a:r>
            <a:r>
              <a:rPr lang="en-US" altLang="zh-CN" dirty="0"/>
              <a:t>B=1</a:t>
            </a:r>
          </a:p>
          <a:p>
            <a:pPr marL="0" indent="0">
              <a:buNone/>
            </a:pPr>
            <a:r>
              <a:rPr lang="en-US" altLang="zh-CN" dirty="0"/>
              <a:t>exchange interaction</a:t>
            </a:r>
            <a:r>
              <a:rPr lang="zh-CN" altLang="en-US" dirty="0"/>
              <a:t>：</a:t>
            </a:r>
            <a:r>
              <a:rPr lang="en-US" altLang="zh-CN" dirty="0"/>
              <a:t>J=1,</a:t>
            </a:r>
            <a:r>
              <a:rPr lang="zh-CN" altLang="en-US" dirty="0"/>
              <a:t> </a:t>
            </a:r>
            <a:r>
              <a:rPr lang="en-US" altLang="zh-CN" dirty="0"/>
              <a:t>A=0.4,</a:t>
            </a:r>
            <a:r>
              <a:rPr lang="zh-CN" altLang="en-US" dirty="0"/>
              <a:t> </a:t>
            </a:r>
            <a:r>
              <a:rPr lang="en-US" altLang="zh-CN" dirty="0"/>
              <a:t>B=0</a:t>
            </a:r>
          </a:p>
          <a:p>
            <a:pPr marL="0" indent="0">
              <a:buNone/>
            </a:pPr>
            <a:r>
              <a:rPr lang="en-US" altLang="zh-CN" dirty="0"/>
              <a:t>only monopole self-energy</a:t>
            </a:r>
            <a:r>
              <a:rPr lang="zh-CN" altLang="en-US" dirty="0"/>
              <a:t>：</a:t>
            </a:r>
            <a:r>
              <a:rPr lang="en-US" altLang="zh-CN" dirty="0"/>
              <a:t>J=1,</a:t>
            </a:r>
            <a:r>
              <a:rPr lang="zh-CN" altLang="en-US" dirty="0"/>
              <a:t> </a:t>
            </a:r>
            <a:r>
              <a:rPr lang="en-US" altLang="zh-CN" dirty="0"/>
              <a:t>A=0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383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79CA1384-D6F1-4D09-7F39-292FB80E09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694100"/>
            <a:ext cx="10515600" cy="129010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EM interaction           exchange interaction             no interaction</a:t>
            </a:r>
            <a:endParaRPr lang="zh-CN" alt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6ECA649-1D98-D5DC-A6A8-A5E065A900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1634" y="2443862"/>
            <a:ext cx="4479019" cy="318699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77F5666-EC1F-BA2F-708D-C9357D3906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67" y="2563834"/>
            <a:ext cx="4511957" cy="306702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E88522F-D848-B6BC-AB84-C6527ED9F28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57" b="94394" l="3436" r="94479">
                        <a14:foregroundMark x1="33620" y1="7776" x2="10552" y2="72152"/>
                        <a14:foregroundMark x1="10552" y1="72152" x2="13497" y2="93671"/>
                        <a14:foregroundMark x1="13497" y1="93671" x2="50675" y2="94937"/>
                        <a14:foregroundMark x1="50675" y1="94937" x2="69939" y2="92948"/>
                        <a14:foregroundMark x1="69939" y1="92948" x2="90798" y2="40325"/>
                        <a14:foregroundMark x1="90798" y1="40325" x2="94724" y2="22966"/>
                        <a14:foregroundMark x1="94724" y1="22966" x2="85031" y2="6691"/>
                        <a14:foregroundMark x1="85031" y1="6691" x2="40859" y2="3978"/>
                        <a14:foregroundMark x1="40859" y1="3978" x2="30429" y2="8680"/>
                        <a14:foregroundMark x1="30429" y1="8680" x2="29693" y2="10307"/>
                        <a14:foregroundMark x1="13006" y1="87703" x2="24663" y2="91320"/>
                        <a14:foregroundMark x1="24663" y1="91320" x2="61227" y2="90235"/>
                        <a14:foregroundMark x1="61227" y1="90235" x2="56074" y2="75226"/>
                        <a14:foregroundMark x1="56074" y1="75226" x2="19264" y2="73599"/>
                        <a14:foregroundMark x1="19264" y1="73599" x2="12147" y2="86257"/>
                        <a14:foregroundMark x1="12147" y1="86257" x2="19755" y2="94394"/>
                        <a14:foregroundMark x1="16196" y1="66727" x2="3558" y2="84268"/>
                        <a14:foregroundMark x1="3558" y1="84268" x2="17914" y2="75588"/>
                        <a14:foregroundMark x1="17914" y1="75588" x2="20000" y2="65823"/>
                        <a14:foregroundMark x1="32515" y1="15552" x2="15828" y2="52622"/>
                        <a14:foregroundMark x1="15828" y1="52622" x2="10429" y2="75226"/>
                        <a14:foregroundMark x1="10429" y1="75226" x2="24540" y2="50452"/>
                        <a14:foregroundMark x1="24540" y1="50452" x2="30675" y2="26582"/>
                        <a14:foregroundMark x1="30675" y1="26582" x2="19387" y2="34720"/>
                        <a14:foregroundMark x1="19387" y1="34720" x2="4049" y2="81013"/>
                        <a14:foregroundMark x1="4049" y1="81013" x2="12638" y2="89873"/>
                        <a14:foregroundMark x1="82086" y1="6329" x2="96564" y2="10850"/>
                        <a14:foregroundMark x1="96564" y1="10850" x2="88344" y2="31826"/>
                        <a14:foregroundMark x1="88344" y1="31826" x2="76810" y2="16456"/>
                        <a14:foregroundMark x1="76810" y1="16456" x2="83436" y2="8137"/>
                        <a14:foregroundMark x1="78160" y1="12477" x2="96319" y2="7414"/>
                        <a14:foregroundMark x1="96319" y1="7414" x2="95460" y2="28933"/>
                        <a14:foregroundMark x1="95460" y1="28933" x2="91902" y2="8861"/>
                        <a14:foregroundMark x1="91902" y1="8861" x2="94601" y2="11031"/>
                        <a14:foregroundMark x1="5890" y1="90778" x2="5890" y2="86799"/>
                        <a14:foregroundMark x1="7730" y1="94394" x2="9693" y2="92767"/>
                        <a14:backgroundMark x1="23681" y1="2351" x2="3804" y2="41410"/>
                        <a14:backgroundMark x1="3804" y1="41410" x2="5153" y2="14467"/>
                        <a14:backgroundMark x1="5153" y1="14467" x2="20368" y2="6510"/>
                        <a14:backgroundMark x1="20368" y1="6510" x2="1227" y2="32188"/>
                        <a14:backgroundMark x1="1227" y1="32188" x2="7362" y2="4702"/>
                        <a14:backgroundMark x1="7362" y1="4702" x2="20982" y2="5967"/>
                        <a14:backgroundMark x1="20982" y1="5967" x2="2209" y2="4159"/>
                        <a14:backgroundMark x1="12147" y1="26944" x2="7117" y2="42676"/>
                        <a14:backgroundMark x1="7117" y1="42676" x2="10429" y2="31646"/>
                        <a14:backgroundMark x1="10552" y1="41049" x2="859" y2="62568"/>
                        <a14:backgroundMark x1="859" y1="62568" x2="8098" y2="39241"/>
                        <a14:backgroundMark x1="8098" y1="39241" x2="6626" y2="5009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-180"/>
          <a:stretch/>
        </p:blipFill>
        <p:spPr>
          <a:xfrm>
            <a:off x="3840021" y="2563834"/>
            <a:ext cx="4511957" cy="306702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E157FB6C-8E40-72BA-5049-B1A585DDC74E}"/>
              </a:ext>
            </a:extLst>
          </p:cNvPr>
          <p:cNvSpPr txBox="1"/>
          <p:nvPr/>
        </p:nvSpPr>
        <p:spPr>
          <a:xfrm>
            <a:off x="5658218" y="899299"/>
            <a:ext cx="12554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T=0.01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3918785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AAE73-DA5F-FC2A-3B0D-B645B9847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5F1791D4-5397-6188-E875-E90CC52EAA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694100"/>
            <a:ext cx="10515600" cy="129010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EM interaction           exchange interaction             no interaction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518B4BC8-085D-221A-85B8-5A5F52E715B0}"/>
              </a:ext>
            </a:extLst>
          </p:cNvPr>
          <p:cNvSpPr txBox="1"/>
          <p:nvPr/>
        </p:nvSpPr>
        <p:spPr>
          <a:xfrm>
            <a:off x="5658218" y="899299"/>
            <a:ext cx="14446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T=0.941</a:t>
            </a:r>
            <a:endParaRPr lang="zh-CN" altLang="en-US" sz="28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17E8703-024A-B7B3-C5C6-614203FEDD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1600" y="2764904"/>
            <a:ext cx="5002082" cy="324926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4A4E673-9B3D-51E5-C891-D5E0E05908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902" y="2503817"/>
            <a:ext cx="5404859" cy="356912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93C9A9A-14F8-9D1C-AB49-A7A4214133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15" b="92137" l="5095" r="93602">
                        <a14:foregroundMark x1="29976" y1="7692" x2="90521" y2="16752"/>
                        <a14:foregroundMark x1="90521" y1="16752" x2="64573" y2="6325"/>
                        <a14:foregroundMark x1="64573" y1="6325" x2="39692" y2="6667"/>
                        <a14:foregroundMark x1="39692" y1="6667" x2="45853" y2="22564"/>
                        <a14:foregroundMark x1="45853" y1="22564" x2="83531" y2="28889"/>
                        <a14:foregroundMark x1="83531" y1="28889" x2="93602" y2="25299"/>
                        <a14:foregroundMark x1="93602" y1="25299" x2="93365" y2="13846"/>
                        <a14:foregroundMark x1="72749" y1="10598" x2="82701" y2="9573"/>
                        <a14:foregroundMark x1="82701" y1="9573" x2="97867" y2="10769"/>
                        <a14:foregroundMark x1="97867" y1="10769" x2="92180" y2="37094"/>
                        <a14:foregroundMark x1="92180" y1="37094" x2="66588" y2="88718"/>
                        <a14:foregroundMark x1="66588" y1="88718" x2="26303" y2="90427"/>
                        <a14:foregroundMark x1="26303" y1="90427" x2="6517" y2="86496"/>
                        <a14:foregroundMark x1="6517" y1="86496" x2="27725" y2="22906"/>
                        <a14:foregroundMark x1="27725" y1="22906" x2="51422" y2="12137"/>
                        <a14:foregroundMark x1="51422" y1="12137" x2="67536" y2="11282"/>
                        <a14:foregroundMark x1="67536" y1="11282" x2="77488" y2="11453"/>
                        <a14:foregroundMark x1="7820" y1="87863" x2="19905" y2="92650"/>
                        <a14:foregroundMark x1="19905" y1="92650" x2="6754" y2="87521"/>
                        <a14:foregroundMark x1="6754" y1="87521" x2="5213" y2="87863"/>
                        <a14:foregroundMark x1="54265" y1="90256" x2="68839" y2="92137"/>
                        <a14:foregroundMark x1="68839" y1="92137" x2="64100" y2="84957"/>
                        <a14:foregroundMark x1="66114" y1="84957" x2="70379" y2="8359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756" y="2503817"/>
            <a:ext cx="5335872" cy="3698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1717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228C7F-B0A8-7F8E-A79F-120E791EF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15B4D623-299D-C5BB-35D1-800EC0C5D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694100"/>
            <a:ext cx="10515600" cy="129010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EM interaction           exchange interaction             no interaction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3FEFCB0-BAF9-C26F-DC85-DE21424131DF}"/>
              </a:ext>
            </a:extLst>
          </p:cNvPr>
          <p:cNvSpPr txBox="1"/>
          <p:nvPr/>
        </p:nvSpPr>
        <p:spPr>
          <a:xfrm>
            <a:off x="5658218" y="899299"/>
            <a:ext cx="144462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T=4.548</a:t>
            </a:r>
            <a:endParaRPr lang="zh-CN" altLang="en-US" sz="28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E618FD5-95CA-B86B-16EF-F322F3FE68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39170" y="2336800"/>
            <a:ext cx="5166612" cy="360970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BEFFB1B-018E-2E0C-5762-B7BB78ADCC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1648" y="2404951"/>
            <a:ext cx="4850352" cy="349901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CA275FD-3326-315D-031C-26327E1398B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961" b="95586" l="2249" r="91598">
                        <a14:foregroundMark x1="27574" y1="9508" x2="47811" y2="8149"/>
                        <a14:foregroundMark x1="47811" y1="8149" x2="87929" y2="11205"/>
                        <a14:foregroundMark x1="87929" y1="11205" x2="94556" y2="20543"/>
                        <a14:foregroundMark x1="69953" y1="81577" x2="66154" y2="91002"/>
                        <a14:foregroundMark x1="76651" y1="64962" x2="76554" y2="65203"/>
                        <a14:foregroundMark x1="94556" y1="20543" x2="85528" y2="42940"/>
                        <a14:foregroundMark x1="66154" y1="91002" x2="53373" y2="97114"/>
                        <a14:foregroundMark x1="53373" y1="97114" x2="2249" y2="92699"/>
                        <a14:foregroundMark x1="2249" y1="92699" x2="2249" y2="77759"/>
                        <a14:foregroundMark x1="2249" y1="77759" x2="30651" y2="7640"/>
                        <a14:foregroundMark x1="13136" y1="82173" x2="35503" y2="98981"/>
                        <a14:foregroundMark x1="35503" y1="98981" x2="57633" y2="95586"/>
                        <a14:foregroundMark x1="57633" y1="95586" x2="61538" y2="81834"/>
                        <a14:foregroundMark x1="61538" y1="81834" x2="37041" y2="73175"/>
                        <a14:foregroundMark x1="37041" y1="73175" x2="20000" y2="75722"/>
                        <a14:foregroundMark x1="20000" y1="75722" x2="16923" y2="78778"/>
                        <a14:foregroundMark x1="84379" y1="29372" x2="92308" y2="21222"/>
                        <a14:foregroundMark x1="92308" y1="21222" x2="90651" y2="8829"/>
                        <a14:foregroundMark x1="90651" y1="8829" x2="77751" y2="11545"/>
                        <a14:foregroundMark x1="77751" y1="11545" x2="81657" y2="27334"/>
                        <a14:foregroundMark x1="81657" y1="27334" x2="93491" y2="23939"/>
                        <a14:foregroundMark x1="93491" y1="23939" x2="91598" y2="7810"/>
                        <a14:foregroundMark x1="91598" y1="7810" x2="86746" y2="6961"/>
                        <a14:foregroundMark x1="81302" y1="38540" x2="65799" y2="73175"/>
                        <a14:foregroundMark x1="65799" y1="73175" x2="78462" y2="72156"/>
                        <a14:foregroundMark x1="78462" y1="72156" x2="84734" y2="54839"/>
                        <a14:foregroundMark x1="84734" y1="54839" x2="85917" y2="42445"/>
                        <a14:foregroundMark x1="85917" y1="42445" x2="81775" y2="38031"/>
                        <a14:foregroundMark x1="83077" y1="44652" x2="74675" y2="63328"/>
                        <a14:foregroundMark x1="74675" y1="63328" x2="82130" y2="55688"/>
                        <a14:foregroundMark x1="82130" y1="55688" x2="74438" y2="49066"/>
                        <a14:foregroundMark x1="74438" y1="49066" x2="71598" y2="63667"/>
                        <a14:foregroundMark x1="71598" y1="63667" x2="78343" y2="55518"/>
                        <a14:foregroundMark x1="78343" y1="55518" x2="80592" y2="47368"/>
                        <a14:backgroundMark x1="20118" y1="8998" x2="4260" y2="36333"/>
                        <a14:backgroundMark x1="4260" y1="36333" x2="2485" y2="52632"/>
                        <a14:backgroundMark x1="2485" y1="52632" x2="1538" y2="31919"/>
                        <a14:backgroundMark x1="1538" y1="31919" x2="19172" y2="7470"/>
                        <a14:backgroundMark x1="19172" y1="7470" x2="118" y2="43973"/>
                        <a14:backgroundMark x1="118" y1="43973" x2="4142" y2="41256"/>
                        <a14:backgroundMark x1="76239" y1="75304" x2="70533" y2="92699"/>
                        <a14:backgroundMark x1="81956" y1="57873" x2="78239" y2="69205"/>
                        <a14:backgroundMark x1="84807" y1="49183" x2="82402" y2="56513"/>
                        <a14:backgroundMark x1="86201" y1="44931" x2="86124" y2="45165"/>
                        <a14:backgroundMark x1="86627" y1="43633" x2="86456" y2="44154"/>
                        <a14:backgroundMark x1="70533" y1="92699" x2="87811" y2="99830"/>
                        <a14:backgroundMark x1="87811" y1="99830" x2="99290" y2="99830"/>
                        <a14:backgroundMark x1="99290" y1="99830" x2="97041" y2="37012"/>
                        <a14:backgroundMark x1="82296" y1="58166" x2="77160" y2="65535"/>
                        <a14:backgroundMark x1="84155" y1="55499" x2="82739" y2="57531"/>
                        <a14:backgroundMark x1="97041" y1="37012" x2="84805" y2="54567"/>
                        <a14:backgroundMark x1="74381" y1="75453" x2="67692" y2="99321"/>
                        <a14:backgroundMark x1="77160" y1="65535" x2="76083" y2="69378"/>
                        <a14:backgroundMark x1="19645" y1="25297" x2="947" y2="70968"/>
                        <a14:backgroundMark x1="947" y1="70968" x2="5207" y2="41596"/>
                        <a14:backgroundMark x1="5207" y1="41596" x2="17633" y2="25467"/>
                        <a14:backgroundMark x1="17633" y1="25467" x2="21538" y2="2275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615" y="2447499"/>
            <a:ext cx="5037293" cy="3511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404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A87E0-2D95-E7FC-C6F3-19B001528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内容占位符 6">
            <a:extLst>
              <a:ext uri="{FF2B5EF4-FFF2-40B4-BE49-F238E27FC236}">
                <a16:creationId xmlns:a16="http://schemas.microsoft.com/office/drawing/2014/main" id="{E464BE50-EEBB-1044-2E2A-80D56CC12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6400" y="1694100"/>
            <a:ext cx="10515600" cy="129010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EM interaction           exchange interaction             no interaction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9DE26CF-6AEB-29AA-0C1D-893997582F14}"/>
              </a:ext>
            </a:extLst>
          </p:cNvPr>
          <p:cNvSpPr txBox="1"/>
          <p:nvPr/>
        </p:nvSpPr>
        <p:spPr>
          <a:xfrm>
            <a:off x="5658218" y="899299"/>
            <a:ext cx="163378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/>
              <a:t>T=13.538</a:t>
            </a:r>
            <a:endParaRPr lang="zh-CN" altLang="en-US" sz="28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50520DA-EF0C-32F3-BDEE-CDA080788D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75821"/>
            <a:ext cx="4778448" cy="3199082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33CF57B-887C-68B9-29FF-FC2D332A14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4200" y="2426827"/>
            <a:ext cx="5471664" cy="369707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771E7A38-63D3-2134-B86C-F341BD0768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40" b="90663" l="4348" r="98284">
                        <a14:foregroundMark x1="29176" y1="16416" x2="54462" y2="10843"/>
                        <a14:foregroundMark x1="54462" y1="10843" x2="82609" y2="11898"/>
                        <a14:foregroundMark x1="82609" y1="11898" x2="91533" y2="18373"/>
                        <a14:foregroundMark x1="91533" y1="18373" x2="86613" y2="40813"/>
                        <a14:foregroundMark x1="86613" y1="40813" x2="60183" y2="44880"/>
                        <a14:foregroundMark x1="60183" y1="44880" x2="35011" y2="32982"/>
                        <a14:foregroundMark x1="35011" y1="32982" x2="25286" y2="18675"/>
                        <a14:foregroundMark x1="25286" y1="18675" x2="35927" y2="14006"/>
                        <a14:foregroundMark x1="35927" y1="14006" x2="36156" y2="14006"/>
                        <a14:foregroundMark x1="94622" y1="15512" x2="33524" y2="10843"/>
                        <a14:foregroundMark x1="33524" y1="10843" x2="9153" y2="62048"/>
                        <a14:foregroundMark x1="9153" y1="62048" x2="5263" y2="83886"/>
                        <a14:foregroundMark x1="5263" y1="83886" x2="31922" y2="99247"/>
                        <a14:foregroundMark x1="68737" y1="94880" x2="78953" y2="93668"/>
                        <a14:foregroundMark x1="31922" y1="99247" x2="68185" y2="94945"/>
                        <a14:foregroundMark x1="97295" y1="24721" x2="98398" y2="13253"/>
                        <a14:foregroundMark x1="6407" y1="78614" x2="7666" y2="98645"/>
                        <a14:foregroundMark x1="7666" y1="98645" x2="71167" y2="85392"/>
                        <a14:foregroundMark x1="71167" y1="85392" x2="57437" y2="73494"/>
                        <a14:foregroundMark x1="57437" y1="73494" x2="32723" y2="70030"/>
                        <a14:foregroundMark x1="32723" y1="70030" x2="4348" y2="79518"/>
                        <a14:foregroundMark x1="37300" y1="87952" x2="65217" y2="90663"/>
                        <a14:foregroundMark x1="65217" y1="90663" x2="42105" y2="83133"/>
                        <a14:foregroundMark x1="42105" y1="83133" x2="30320" y2="85241"/>
                        <a14:foregroundMark x1="83982" y1="36747" x2="74256" y2="45633"/>
                        <a14:foregroundMark x1="74256" y1="45633" x2="60412" y2="76506"/>
                        <a14:foregroundMark x1="60412" y1="76506" x2="67048" y2="85542"/>
                        <a14:foregroundMark x1="67048" y1="85542" x2="82952" y2="70181"/>
                        <a14:foregroundMark x1="82952" y1="70181" x2="92105" y2="29066"/>
                        <a14:foregroundMark x1="92105" y1="29066" x2="79748" y2="34639"/>
                        <a14:foregroundMark x1="79748" y1="34639" x2="70595" y2="49849"/>
                        <a14:backgroundMark x1="98169" y1="25151" x2="81579" y2="80873"/>
                        <a14:backgroundMark x1="81579" y1="80873" x2="81350" y2="96084"/>
                        <a14:backgroundMark x1="81350" y1="96084" x2="91762" y2="97139"/>
                        <a14:backgroundMark x1="91762" y1="97139" x2="98398" y2="40964"/>
                        <a14:backgroundMark x1="98398" y1="40964" x2="84325" y2="97289"/>
                        <a14:backgroundMark x1="84325" y1="97289" x2="96224" y2="98042"/>
                        <a14:backgroundMark x1="96224" y1="98042" x2="99542" y2="82831"/>
                        <a14:backgroundMark x1="99542" y1="82831" x2="97826" y2="26807"/>
                        <a14:backgroundMark x1="97826" y1="26807" x2="99886" y2="23946"/>
                        <a14:backgroundMark x1="93478" y1="48494" x2="86842" y2="70181"/>
                        <a14:backgroundMark x1="86842" y1="70181" x2="69108" y2="92470"/>
                        <a14:backgroundMark x1="69108" y1="92470" x2="87529" y2="80271"/>
                        <a14:backgroundMark x1="87529" y1="80271" x2="92449" y2="47440"/>
                        <a14:backgroundMark x1="72540" y1="89006" x2="74142" y2="918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3300" y="2261988"/>
            <a:ext cx="5024967" cy="381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67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61F699-5AA5-7F39-C46E-B46949EB7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磁荷间相互作用估计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D65AF8-AAE9-8462-682C-BF5CE861CB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zh-CN" altLang="en-US" dirty="0"/>
                  <a:t>如果磁荷间势能可以简单写成</a:t>
                </a:r>
                <a:endParaRPr lang="en-US" altLang="zh-CN" dirty="0"/>
              </a:p>
              <a:p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即拉长磁荷需要为系统注入能量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zh-CN" altLang="en-US" dirty="0"/>
                  <a:t>尝试拟合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9D65AF8-AAE9-8462-682C-BF5CE861CB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35415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8F1A27-9624-2BC2-62E0-936AA3496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0016" y="1696995"/>
            <a:ext cx="4532869" cy="3336324"/>
          </a:xfrm>
        </p:spPr>
        <p:txBody>
          <a:bodyPr>
            <a:noAutofit/>
          </a:bodyPr>
          <a:lstStyle/>
          <a:p>
            <a:r>
              <a:rPr lang="zh-CN" altLang="en-US" sz="2800" dirty="0">
                <a:latin typeface="+mn-ea"/>
                <a:ea typeface="+mn-ea"/>
              </a:rPr>
              <a:t>并不是预期的结果：</a:t>
            </a:r>
            <a:br>
              <a:rPr lang="en-US" altLang="zh-CN" sz="2800" dirty="0">
                <a:latin typeface="+mn-ea"/>
                <a:ea typeface="+mn-ea"/>
              </a:rPr>
            </a:br>
            <a:br>
              <a:rPr lang="en-US" altLang="zh-CN" sz="2800" dirty="0">
                <a:latin typeface="+mn-ea"/>
                <a:ea typeface="+mn-ea"/>
              </a:rPr>
            </a:br>
            <a:r>
              <a:rPr lang="zh-CN" altLang="en-US" sz="2800" dirty="0">
                <a:latin typeface="+mn-ea"/>
                <a:ea typeface="+mn-ea"/>
              </a:rPr>
              <a:t>在高温下，磁偶极子之间张力趋近于零，代表磁单极子近似自由。</a:t>
            </a:r>
            <a:br>
              <a:rPr lang="en-US" altLang="zh-CN" sz="2800" dirty="0">
                <a:latin typeface="+mn-ea"/>
                <a:ea typeface="+mn-ea"/>
              </a:rPr>
            </a:br>
            <a:br>
              <a:rPr lang="en-US" altLang="zh-CN" sz="2800" dirty="0">
                <a:latin typeface="+mn-ea"/>
                <a:ea typeface="+mn-ea"/>
              </a:rPr>
            </a:br>
            <a:r>
              <a:rPr lang="zh-CN" altLang="en-US" sz="2800" dirty="0">
                <a:latin typeface="+mn-ea"/>
                <a:ea typeface="+mn-ea"/>
              </a:rPr>
              <a:t>但是在低温下弦张力为负，代表磁单极之间有排斥势。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939C3595-9B33-2335-D885-C45DB11BF0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320" y="1019918"/>
            <a:ext cx="5349251" cy="4227585"/>
          </a:xfrm>
        </p:spPr>
      </p:pic>
    </p:spTree>
    <p:extLst>
      <p:ext uri="{BB962C8B-B14F-4D97-AF65-F5344CB8AC3E}">
        <p14:creationId xmlns:p14="http://schemas.microsoft.com/office/powerpoint/2010/main" val="13801007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B9A51E-1521-4238-D41A-444624DE9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排斥势的产生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9AA4FEF-3FA5-5096-6337-A4FF98DF1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36475" cy="4351338"/>
          </a:xfrm>
        </p:spPr>
        <p:txBody>
          <a:bodyPr/>
          <a:lstStyle/>
          <a:p>
            <a:r>
              <a:rPr lang="zh-CN" altLang="en-US" dirty="0"/>
              <a:t>系统熵的要求：</a:t>
            </a:r>
            <a:endParaRPr lang="en-US" altLang="zh-CN" dirty="0"/>
          </a:p>
          <a:p>
            <a:r>
              <a:rPr lang="zh-CN" altLang="en-US" dirty="0"/>
              <a:t>相邻磁单极同时产生会让体系更无序，因此需要更高的能量，这会导致磁偶极之间产生一个短程的等效排斥势能。</a:t>
            </a:r>
            <a:endParaRPr lang="en-US" altLang="zh-CN" dirty="0"/>
          </a:p>
          <a:p>
            <a:r>
              <a:rPr lang="zh-CN" altLang="en-US" dirty="0"/>
              <a:t>低温时磁偶极子激发更倾向于分离</a:t>
            </a:r>
            <a:endParaRPr lang="en-US" altLang="zh-CN" dirty="0"/>
          </a:p>
          <a:p>
            <a:pPr marL="0" indent="0">
              <a:buNone/>
            </a:pPr>
            <a:endParaRPr lang="en-US" altLang="zh-CN" b="0" i="1" dirty="0">
              <a:latin typeface="Cambria Math" panose="02040503050406030204" pitchFamily="18" charset="0"/>
            </a:endParaRPr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94806C61-173E-39C7-4065-C46687043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191" y="1118522"/>
            <a:ext cx="5111506" cy="4224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511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F40656-5378-C673-348F-41141A826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40ED6F-BF8F-3BCA-E81A-DFFAB322AF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        对蜂窝型自旋冰的热激发形态进行了研究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zh-CN" altLang="en-US" dirty="0"/>
              <a:t>针对不同的有效哈密顿量对系统能量和磁荷激发进行了研究  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     </a:t>
            </a:r>
            <a:r>
              <a:rPr lang="zh-CN" altLang="en-US" dirty="0"/>
              <a:t>尤其分析了磁单极子成对激发的关联函数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       分析了蜂窝型自旋冰作为激发磁单极的背景的优势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7685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4DB982-B352-95CB-164E-FAFCA72F6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不足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BA24C8-0DC7-B833-DAFF-3397555623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我的有效哈密顿量依然是一个玩具模型，并不是严格哈密顿量的等效。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在我的模型中不能观察到长程的正负磁荷吸引力，因为即使是对电磁相互作用，我在模拟中也只考虑了最近邻的效应。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3E972B33-B817-5BA2-7F88-D4B6AACFBA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790" y="2639046"/>
            <a:ext cx="5657143" cy="1695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2282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4FE688-05A2-550D-FB37-F3828B970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展望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E18E54-0854-E08B-2173-9227D26D64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可以对严格的哈密顿量进行模拟，得到更加精细的有效哈密顿量</a:t>
            </a:r>
            <a:endParaRPr lang="en-US" altLang="zh-CN" dirty="0"/>
          </a:p>
          <a:p>
            <a:r>
              <a:rPr lang="zh-CN" altLang="en-US" dirty="0"/>
              <a:t>可以对关联函数进行更详细的分析，不仅仅是</a:t>
            </a:r>
            <a:r>
              <a:rPr lang="en-US" altLang="zh-CN" dirty="0"/>
              <a:t>+-</a:t>
            </a:r>
            <a:r>
              <a:rPr lang="zh-CN" altLang="en-US" dirty="0"/>
              <a:t>关联，也可以分析</a:t>
            </a:r>
            <a:r>
              <a:rPr lang="en-US" altLang="zh-CN" dirty="0"/>
              <a:t>++</a:t>
            </a:r>
            <a:r>
              <a:rPr lang="zh-CN" altLang="en-US" dirty="0"/>
              <a:t>关联</a:t>
            </a:r>
            <a:endParaRPr lang="en-US" altLang="zh-CN" dirty="0"/>
          </a:p>
          <a:p>
            <a:r>
              <a:rPr lang="zh-CN" altLang="en-US" dirty="0"/>
              <a:t>分析体系的热容和磁导率变化（在我的模拟中因为步数较少，热容数据并不平滑）</a:t>
            </a:r>
            <a:endParaRPr lang="en-US" altLang="zh-CN" dirty="0"/>
          </a:p>
          <a:p>
            <a:r>
              <a:rPr lang="zh-CN" altLang="en-US" dirty="0"/>
              <a:t>分析外场对磁荷分离的影响</a:t>
            </a:r>
            <a:endParaRPr lang="en-US" altLang="zh-CN" dirty="0"/>
          </a:p>
          <a:p>
            <a:r>
              <a:rPr lang="zh-CN" altLang="en-US" dirty="0"/>
              <a:t>利用自由能严格分析熵对磁单极产生的影响</a:t>
            </a:r>
            <a:endParaRPr lang="en-US" altLang="zh-CN" dirty="0"/>
          </a:p>
          <a:p>
            <a:r>
              <a:rPr lang="zh-CN" altLang="en-US" dirty="0"/>
              <a:t>与其它晶格乃至准晶进行对比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95983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1464</TotalTime>
  <Words>575</Words>
  <Application>Microsoft Office PowerPoint</Application>
  <PresentationFormat>宽屏</PresentationFormat>
  <Paragraphs>85</Paragraphs>
  <Slides>18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等线</vt:lpstr>
      <vt:lpstr>等线 Light</vt:lpstr>
      <vt:lpstr>Arial</vt:lpstr>
      <vt:lpstr>Cambria Math</vt:lpstr>
      <vt:lpstr>Office 主题​​</vt:lpstr>
      <vt:lpstr>基于经典蒙特卡洛算法 二维蜂窝形自旋冰 磁单极子热激发数值模拟</vt:lpstr>
      <vt:lpstr>物理背景</vt:lpstr>
      <vt:lpstr>物理背景</vt:lpstr>
      <vt:lpstr>物理背景</vt:lpstr>
      <vt:lpstr>物理背景</vt:lpstr>
      <vt:lpstr>物理背景</vt:lpstr>
      <vt:lpstr>模拟方法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磁荷间相互作用估计</vt:lpstr>
      <vt:lpstr>并不是预期的结果：  在高温下，磁偶极子之间张力趋近于零，代表磁单极子近似自由。  但是在低温下弦张力为负，代表磁单极之间有排斥势。</vt:lpstr>
      <vt:lpstr>排斥势的产生</vt:lpstr>
      <vt:lpstr>总结</vt:lpstr>
      <vt:lpstr>不足</vt:lpstr>
      <vt:lpstr>展望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jie joo</dc:creator>
  <cp:lastModifiedBy>jie joo</cp:lastModifiedBy>
  <cp:revision>18</cp:revision>
  <dcterms:created xsi:type="dcterms:W3CDTF">2025-12-25T08:39:16Z</dcterms:created>
  <dcterms:modified xsi:type="dcterms:W3CDTF">2025-12-28T16:27:06Z</dcterms:modified>
</cp:coreProperties>
</file>